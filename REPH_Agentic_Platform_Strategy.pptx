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554480" cy="256549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 flipV="1">
            <a:off x="8238744" y="2615184"/>
            <a:ext cx="1700784" cy="1289304"/>
          </a:xfrm>
          <a:prstGeom prst="line">
            <a:avLst/>
          </a:prstGeom>
          <a:ln w="17780">
            <a:solidFill>
              <a:srgbClr val="2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939528" y="2386584"/>
            <a:ext cx="1271016" cy="1517904"/>
          </a:xfrm>
          <a:prstGeom prst="line">
            <a:avLst/>
          </a:prstGeom>
          <a:ln w="17780">
            <a:solidFill>
              <a:srgbClr val="2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39528" y="3904488"/>
            <a:ext cx="1545336" cy="310896"/>
          </a:xfrm>
          <a:prstGeom prst="line">
            <a:avLst/>
          </a:prstGeom>
          <a:ln w="17780">
            <a:solidFill>
              <a:srgbClr val="2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467344" y="3904488"/>
            <a:ext cx="1472184" cy="1179576"/>
          </a:xfrm>
          <a:prstGeom prst="line">
            <a:avLst/>
          </a:prstGeom>
          <a:ln w="17780">
            <a:solidFill>
              <a:srgbClr val="2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939528" y="3904488"/>
            <a:ext cx="36576" cy="1591056"/>
          </a:xfrm>
          <a:prstGeom prst="line">
            <a:avLst/>
          </a:prstGeom>
          <a:ln w="17780">
            <a:solidFill>
              <a:srgbClr val="2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092440" y="2468880"/>
            <a:ext cx="310896" cy="310896"/>
          </a:xfrm>
          <a:prstGeom prst="ellipse">
            <a:avLst/>
          </a:prstGeom>
          <a:solidFill>
            <a:srgbClr val="172A52"/>
          </a:solidFill>
          <a:ln w="17780">
            <a:solidFill>
              <a:srgbClr val="0B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64240" y="2240280"/>
            <a:ext cx="310896" cy="310896"/>
          </a:xfrm>
          <a:prstGeom prst="ellipse">
            <a:avLst/>
          </a:prstGeom>
          <a:solidFill>
            <a:srgbClr val="172A52"/>
          </a:solidFill>
          <a:ln w="17780">
            <a:solidFill>
              <a:srgbClr val="0B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4069080"/>
            <a:ext cx="310896" cy="310896"/>
          </a:xfrm>
          <a:prstGeom prst="ellipse">
            <a:avLst/>
          </a:prstGeom>
          <a:solidFill>
            <a:srgbClr val="172A52"/>
          </a:solidFill>
          <a:ln w="17780">
            <a:solidFill>
              <a:srgbClr val="0B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4937760"/>
            <a:ext cx="310896" cy="310896"/>
          </a:xfrm>
          <a:prstGeom prst="ellipse">
            <a:avLst/>
          </a:prstGeom>
          <a:solidFill>
            <a:srgbClr val="172A52"/>
          </a:solidFill>
          <a:ln w="17780">
            <a:solidFill>
              <a:srgbClr val="0B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29800" y="5349240"/>
            <a:ext cx="310896" cy="310896"/>
          </a:xfrm>
          <a:prstGeom prst="ellipse">
            <a:avLst/>
          </a:prstGeom>
          <a:solidFill>
            <a:srgbClr val="172A52"/>
          </a:solidFill>
          <a:ln w="17780">
            <a:solidFill>
              <a:srgbClr val="0B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6920" y="3611880"/>
            <a:ext cx="603504" cy="603504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65792" y="3730752"/>
            <a:ext cx="365760" cy="365760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52660" y="3817620"/>
            <a:ext cx="192024" cy="192024"/>
          </a:xfrm>
          <a:prstGeom prst="ellipse">
            <a:avLst/>
          </a:prstGeom>
          <a:solidFill>
            <a:srgbClr val="5E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EXECUTIVE BRIEFING — LEADERSHIP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697480"/>
            <a:ext cx="7863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500" b="1" i="0">
                <a:solidFill>
                  <a:srgbClr val="FFFFFF"/>
                </a:solidFill>
                <a:latin typeface="Georgia"/>
              </a:rPr>
              <a:t>A Control Plane for</a:t>
            </a:r>
          </a:p>
          <a:p>
            <a:pPr algn="l">
              <a:lnSpc>
                <a:spcPct val="102000"/>
              </a:lnSpc>
            </a:pPr>
            <a:r>
              <a:rPr sz="4500" b="1" i="0">
                <a:solidFill>
                  <a:srgbClr val="5EE7DF"/>
                </a:solidFill>
                <a:latin typeface="Georgia"/>
              </a:rPr>
              <a:t>Enterprise 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REPH Agentic Platform</a:t>
            </a:r>
            <a:r>
              <a:rPr sz="1550" b="0" i="0">
                <a:solidFill>
                  <a:srgbClr val="B9C5DC"/>
                </a:solidFill>
                <a:latin typeface="Calibri"/>
              </a:rPr>
              <a:t>  ·  Strategic direction for how we deploy, govern, and trust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532120"/>
            <a:ext cx="2743200" cy="27432"/>
          </a:xfrm>
          <a:prstGeom prst="rect">
            <a:avLst/>
          </a:prstGeom>
          <a:solidFill>
            <a:srgbClr val="2F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A0C6"/>
                </a:solidFill>
                <a:latin typeface="Calibri"/>
              </a:rPr>
              <a:t>Prepared for Leadership  ·  June 2026  ·  Presented by Mac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THE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E293B"/>
                </a:solidFill>
                <a:latin typeface="Georgia"/>
              </a:rPr>
              <a:t>AI agents are multiplying across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5532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Teams everywhere are building agents — to review contracts, explain variances, summarize cases, and advise on deployments. Adoption is real and accelerating.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5532120" cy="2606040"/>
          </a:xfrm>
          <a:prstGeom prst="roundRect">
            <a:avLst>
              <a:gd name="adj" fmla="val 5000"/>
            </a:avLst>
          </a:prstGeom>
          <a:solidFill>
            <a:srgbClr val="0E1B33"/>
          </a:solidFill>
          <a:ln>
            <a:noFill/>
          </a:ln>
          <a:effectLst>
            <a:outerShdw blurRad="203200" dist="63500" dir="5400000" rotWithShape="0">
              <a:srgbClr val="0B122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728" cy="26060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767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5EE7DF"/>
                </a:solidFill>
                <a:latin typeface="Calibri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50" b="1" i="0">
                <a:solidFill>
                  <a:srgbClr val="FFFFFF"/>
                </a:solidFill>
                <a:latin typeface="Georgia"/>
              </a:rPr>
              <a:t>Every team can now build an agent.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750" b="0" i="0">
                <a:solidFill>
                  <a:srgbClr val="C7D2E6"/>
                </a:solidFill>
                <a:latin typeface="Georgia"/>
              </a:rPr>
              <a:t>The enterprise has no consistent way to </a:t>
            </a:r>
            <a:r>
              <a:rPr sz="1750" b="1" i="0">
                <a:solidFill>
                  <a:srgbClr val="5EE7DF"/>
                </a:solidFill>
                <a:latin typeface="Georgia"/>
              </a:rPr>
              <a:t>deploy, govern, and trust</a:t>
            </a:r>
            <a:r>
              <a:rPr sz="1750" b="0" i="0">
                <a:solidFill>
                  <a:srgbClr val="C7D2E6"/>
                </a:solidFill>
                <a:latin typeface="Georgia"/>
              </a:rPr>
              <a:t> them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83080"/>
            <a:ext cx="2542032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783080"/>
            <a:ext cx="2542032" cy="118872"/>
          </a:xfrm>
          <a:prstGeom prst="rect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59" y="2167128"/>
            <a:ext cx="457200" cy="457200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2148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2770632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Legal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3118104"/>
            <a:ext cx="20848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Contract Review Assistant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0304" y="1783080"/>
            <a:ext cx="2542032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90304" y="1783080"/>
            <a:ext cx="2542032" cy="1188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64624" y="216712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4" y="2148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2770632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3118104"/>
            <a:ext cx="20848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Variance Explainer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032504"/>
            <a:ext cx="2542032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4032504"/>
            <a:ext cx="2542032" cy="11887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66559" y="4416552"/>
            <a:ext cx="457200" cy="45720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43982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020056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Customer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5367528"/>
            <a:ext cx="20848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Case Summarizer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0304" y="4032504"/>
            <a:ext cx="2542032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0304" y="4032504"/>
            <a:ext cx="2542032" cy="118872"/>
          </a:xfrm>
          <a:prstGeom prst="rect">
            <a:avLst/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64624" y="4416552"/>
            <a:ext cx="457200" cy="457200"/>
          </a:xfrm>
          <a:prstGeom prst="ellipse">
            <a:avLst/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43982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5020056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Enterprise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4624" y="5367528"/>
            <a:ext cx="20848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Deployment Advisor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6135624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Live today across four business units — and growing.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E2574C"/>
                </a:solidFill>
                <a:latin typeface="Calibri"/>
              </a:rPr>
              <a:t>THE RISK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E293B"/>
                </a:solidFill>
                <a:latin typeface="Georgia"/>
              </a:rPr>
              <a:t>We have agents. We don’t have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475569"/>
                </a:solidFill>
                <a:latin typeface="Calibri"/>
              </a:rPr>
              <a:t>A review of the current platform surfaced five gaps that any agent program will hit: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49300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0584" cy="1572768"/>
          </a:xfrm>
          <a:prstGeom prst="rect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615184"/>
            <a:ext cx="29900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No system of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054096"/>
            <a:ext cx="299008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70" b="0" i="0">
                <a:solidFill>
                  <a:srgbClr val="64748B"/>
                </a:solidFill>
                <a:latin typeface="Calibri"/>
              </a:rPr>
              <a:t>Agents are scattered across platforms with no single inventory, owner, or risk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49300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377440"/>
            <a:ext cx="100584" cy="1572768"/>
          </a:xfrm>
          <a:prstGeom prst="rect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615184"/>
            <a:ext cx="29900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Ungoverned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054096"/>
            <a:ext cx="299008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70" b="0" i="0">
                <a:solidFill>
                  <a:srgbClr val="64748B"/>
                </a:solidFill>
                <a:latin typeface="Calibri"/>
              </a:rPr>
              <a:t>Model, data, and secret access isn’t centrally controlled — keys and scopes leak into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377440"/>
            <a:ext cx="349300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2377440"/>
            <a:ext cx="100584" cy="1572768"/>
          </a:xfrm>
          <a:prstGeom prst="rect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5" y="2615184"/>
            <a:ext cx="29900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Approvals can be bypassed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3054096"/>
            <a:ext cx="299008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70" b="0" i="0">
                <a:solidFill>
                  <a:srgbClr val="64748B"/>
                </a:solidFill>
                <a:latin typeface="Calibri"/>
              </a:rPr>
              <a:t>High-risk “human approval” is asserted by the client and not enforced or recorded.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24528"/>
            <a:ext cx="349300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24528"/>
            <a:ext cx="100584" cy="1572768"/>
          </a:xfrm>
          <a:prstGeom prst="rect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462272"/>
            <a:ext cx="29900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No cost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901184"/>
            <a:ext cx="299008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70" b="0" i="0">
                <a:solidFill>
                  <a:srgbClr val="64748B"/>
                </a:solidFill>
                <a:latin typeface="Calibri"/>
              </a:rPr>
              <a:t>Spend isn’t tracked reliably per agent, model, or business unit.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24528"/>
            <a:ext cx="349300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224528"/>
            <a:ext cx="100584" cy="1572768"/>
          </a:xfrm>
          <a:prstGeom prst="rect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4462272"/>
            <a:ext cx="29900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libri"/>
              </a:rPr>
              <a:t>No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901184"/>
            <a:ext cx="299008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70" b="0" i="0">
                <a:solidFill>
                  <a:srgbClr val="64748B"/>
                </a:solidFill>
                <a:latin typeface="Calibri"/>
              </a:rPr>
              <a:t>There’s no durable record of who ran, approved, or changed what.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4224528"/>
            <a:ext cx="3493008" cy="1572768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>
            <a:outerShdw blurRad="152400" dist="38100" dir="5400000" rotWithShape="0">
              <a:srgbClr val="0B122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5" y="4498848"/>
            <a:ext cx="29443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These are governance gaps,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7D2E6"/>
                </a:solidFill>
                <a:latin typeface="Calibri"/>
              </a:rPr>
              <a:t>not coding bugs — they don’t fix themselves as we add more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THE STRATEGIC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E293B"/>
                </a:solidFill>
                <a:latin typeface="Georgia"/>
              </a:rPr>
              <a:t>Two ways to build an agent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349240" cy="3154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9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5349240" cy="566928"/>
          </a:xfrm>
          <a:prstGeom prst="rect">
            <a:avLst/>
          </a:prstGeom>
          <a:solidFill>
            <a:srgbClr val="ED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075688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00">
                <a:solidFill>
                  <a:srgbClr val="8A7F6F"/>
                </a:solidFill>
                <a:latin typeface="Calibri"/>
              </a:rPr>
              <a:t>OPTION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24328"/>
            <a:ext cx="4709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293B"/>
                </a:solidFill>
                <a:latin typeface="Georgia"/>
              </a:rPr>
              <a:t>Own the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081528"/>
            <a:ext cx="47091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Build &amp; host a sandboxed agent runtime.</a:t>
            </a:r>
          </a:p>
        </p:txBody>
      </p:sp>
      <p:sp>
        <p:nvSpPr>
          <p:cNvPr id="9" name="Oval 8"/>
          <p:cNvSpPr/>
          <p:nvPr/>
        </p:nvSpPr>
        <p:spPr>
          <a:xfrm>
            <a:off x="960119" y="3593591"/>
            <a:ext cx="246888" cy="246888"/>
          </a:xfrm>
          <a:prstGeom prst="ellipse">
            <a:avLst/>
          </a:prstGeom>
          <a:solidFill>
            <a:srgbClr val="EDE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3575303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2574C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75303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Re-implements infrastructure we already run</a:t>
            </a:r>
          </a:p>
        </p:txBody>
      </p:sp>
      <p:sp>
        <p:nvSpPr>
          <p:cNvPr id="12" name="Oval 11"/>
          <p:cNvSpPr/>
          <p:nvPr/>
        </p:nvSpPr>
        <p:spPr>
          <a:xfrm>
            <a:off x="960119" y="4041648"/>
            <a:ext cx="246888" cy="246888"/>
          </a:xfrm>
          <a:prstGeom prst="ellipse">
            <a:avLst/>
          </a:prstGeom>
          <a:solidFill>
            <a:srgbClr val="EDE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402336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2574C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2336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Long, costly, operationally heavy to build</a:t>
            </a:r>
          </a:p>
        </p:txBody>
      </p:sp>
      <p:sp>
        <p:nvSpPr>
          <p:cNvPr id="15" name="Oval 14"/>
          <p:cNvSpPr/>
          <p:nvPr/>
        </p:nvSpPr>
        <p:spPr>
          <a:xfrm>
            <a:off x="960119" y="4489704"/>
            <a:ext cx="246888" cy="246888"/>
          </a:xfrm>
          <a:prstGeom prst="ellipse">
            <a:avLst/>
          </a:prstGeom>
          <a:solidFill>
            <a:srgbClr val="EDE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47141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2574C"/>
                </a:solidFill>
                <a:latin typeface="Calibr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471416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Competes with our own cloud, Foundry &amp; Bedrock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965960"/>
            <a:ext cx="5349240" cy="3154680"/>
          </a:xfrm>
          <a:prstGeom prst="roundRect">
            <a:avLst>
              <a:gd name="adj" fmla="val 4000"/>
            </a:avLst>
          </a:prstGeom>
          <a:solidFill>
            <a:srgbClr val="0E1B33"/>
          </a:solidFill>
          <a:ln>
            <a:noFill/>
          </a:ln>
          <a:effectLst>
            <a:outerShdw blurRad="203200" dist="63500" dir="5400000" rotWithShape="0">
              <a:srgbClr val="0B122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965960"/>
            <a:ext cx="5349240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075688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60">
                <a:solidFill>
                  <a:srgbClr val="0E1B33"/>
                </a:solidFill>
                <a:latin typeface="Calibri"/>
              </a:rPr>
              <a:t>OPTION B  ·  RECOMMENDED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624328"/>
            <a:ext cx="4709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Georgia"/>
              </a:rPr>
              <a:t>Own the control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081528"/>
            <a:ext cx="47091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EE7DF"/>
                </a:solidFill>
                <a:latin typeface="Calibri"/>
              </a:rPr>
              <a:t>Govern access wherever agents run.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3593591"/>
            <a:ext cx="246888" cy="246888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575303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1B33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3575303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7E1F2"/>
                </a:solidFill>
                <a:latin typeface="Calibri"/>
              </a:rPr>
              <a:t>Smaller build — value in weeks, not quarters</a:t>
            </a:r>
          </a:p>
        </p:txBody>
      </p:sp>
      <p:sp>
        <p:nvSpPr>
          <p:cNvPr id="26" name="Oval 25"/>
          <p:cNvSpPr/>
          <p:nvPr/>
        </p:nvSpPr>
        <p:spPr>
          <a:xfrm>
            <a:off x="6519672" y="4041648"/>
            <a:ext cx="246888" cy="246888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1B33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402336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7E1F2"/>
                </a:solidFill>
                <a:latin typeface="Calibri"/>
              </a:rPr>
              <a:t>Leverages the infrastructure we already have</a:t>
            </a:r>
          </a:p>
        </p:txBody>
      </p:sp>
      <p:sp>
        <p:nvSpPr>
          <p:cNvPr id="29" name="Oval 28"/>
          <p:cNvSpPr/>
          <p:nvPr/>
        </p:nvSpPr>
        <p:spPr>
          <a:xfrm>
            <a:off x="6519672" y="4489704"/>
            <a:ext cx="246888" cy="246888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47141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1B33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4471416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7E1F2"/>
                </a:solidFill>
                <a:latin typeface="Calibri"/>
              </a:rPr>
              <a:t>Reversible: add hosting later if we ever need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5EE7DF"/>
                </a:solidFill>
                <a:latin typeface="Calibri"/>
              </a:rPr>
              <a:t>OUR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</a:rPr>
              <a:t>Control-Plane-First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1">
                <a:solidFill>
                  <a:srgbClr val="C7D2E6"/>
                </a:solidFill>
                <a:latin typeface="Georgia"/>
              </a:rPr>
              <a:t>“Govern the points every agent must pass through — </a:t>
            </a:r>
            <a:r>
              <a:rPr sz="2100" b="1" i="1">
                <a:solidFill>
                  <a:srgbClr val="5EE7DF"/>
                </a:solidFill>
                <a:latin typeface="Georgia"/>
              </a:rPr>
              <a:t>not the box it runs in.”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11880"/>
            <a:ext cx="3456432" cy="2148840"/>
          </a:xfrm>
          <a:prstGeom prst="roundRect">
            <a:avLst>
              <a:gd name="adj" fmla="val 6000"/>
            </a:avLst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611880"/>
            <a:ext cx="3456432" cy="100584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995928"/>
            <a:ext cx="29077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5EE7D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453128"/>
            <a:ext cx="29077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Calibri"/>
              </a:rPr>
              <a:t>Fits our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873752"/>
            <a:ext cx="288950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80" b="0" i="0">
                <a:solidFill>
                  <a:srgbClr val="C2CEE4"/>
                </a:solidFill>
                <a:latin typeface="Calibri"/>
              </a:rPr>
              <a:t>Teams already have compute. The pain is governance, not hosting.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3611880"/>
            <a:ext cx="3456432" cy="2148840"/>
          </a:xfrm>
          <a:prstGeom prst="roundRect">
            <a:avLst>
              <a:gd name="adj" fmla="val 6000"/>
            </a:avLst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3611880"/>
            <a:ext cx="3456432" cy="100584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3995928"/>
            <a:ext cx="29077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5EE7D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4453128"/>
            <a:ext cx="29077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Calibri"/>
              </a:rPr>
              <a:t>Low-regret &amp; reversible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4873752"/>
            <a:ext cx="288950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80" b="0" i="0">
                <a:solidFill>
                  <a:srgbClr val="C2CEE4"/>
                </a:solidFill>
                <a:latin typeface="Calibri"/>
              </a:rPr>
              <a:t>Start lean; a managed runtime can slot in later without rework.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1" y="3611880"/>
            <a:ext cx="3456432" cy="2148840"/>
          </a:xfrm>
          <a:prstGeom prst="roundRect">
            <a:avLst>
              <a:gd name="adj" fmla="val 6000"/>
            </a:avLst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1" y="3611880"/>
            <a:ext cx="3456432" cy="100584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995928"/>
            <a:ext cx="29077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5EE7DF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453128"/>
            <a:ext cx="29077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Calibri"/>
              </a:rPr>
              <a:t>Attacks the real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873752"/>
            <a:ext cx="288950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80" b="0" i="0">
                <a:solidFill>
                  <a:srgbClr val="C2CEE4"/>
                </a:solidFill>
                <a:latin typeface="Calibri"/>
              </a:rPr>
              <a:t>Closes the inventory, access, approval, cost &amp; audit gaps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WHAT WE’D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E293B"/>
                </a:solidFill>
                <a:latin typeface="Georgia"/>
              </a:rPr>
              <a:t>One control plane, six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322576"/>
            <a:ext cx="566928" cy="566928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0428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035808"/>
            <a:ext cx="2962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401568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64748B"/>
                </a:solidFill>
                <a:latin typeface="Calibri"/>
              </a:rPr>
              <a:t>A single system of record for every agent — owner, risk, lineage.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01168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90872" y="2322576"/>
            <a:ext cx="566928" cy="566928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30428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035808"/>
            <a:ext cx="2962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Governance &amp; Approvals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401568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64748B"/>
                </a:solidFill>
                <a:latin typeface="Calibri"/>
              </a:rPr>
              <a:t>Review and real, recorded sign-off gating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7" y="201168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5" y="2322576"/>
            <a:ext cx="566928" cy="566928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230428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5" y="3035808"/>
            <a:ext cx="2962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Gateways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3401568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64748B"/>
                </a:solidFill>
                <a:latin typeface="Calibri"/>
              </a:rPr>
              <a:t>Model, tool &amp; secret access brokered and policy-enforced.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96512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4407408"/>
            <a:ext cx="566928" cy="566928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3891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{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120640"/>
            <a:ext cx="2962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Agent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48640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64748B"/>
                </a:solidFill>
                <a:latin typeface="Calibri"/>
              </a:rPr>
              <a:t>A thin library teams embed so agents report in from anywhere.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8264" y="4096512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90872" y="4407408"/>
            <a:ext cx="566928" cy="566928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43891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5120640"/>
            <a:ext cx="2962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Observability &amp;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548640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64748B"/>
                </a:solidFill>
                <a:latin typeface="Calibri"/>
              </a:rPr>
              <a:t>Unified usage, latency, quality and accurate spend.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7" y="4096512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49055" y="4407408"/>
            <a:ext cx="566928" cy="566928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5" y="43891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5" y="5120640"/>
            <a:ext cx="2962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Audit &amp; Lineage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5" y="548640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64748B"/>
                </a:solidFill>
                <a:latin typeface="Calibri"/>
              </a:rPr>
              <a:t>An append-only record of who ran, approved, and changed what.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E293B"/>
                </a:solidFill>
                <a:latin typeface="Georgia"/>
              </a:rPr>
              <a:t>Govern now, host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475569"/>
                </a:solidFill>
                <a:latin typeface="Calibri"/>
              </a:rPr>
              <a:t>Three ways to connect — every agent governed through the same control plane.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23160"/>
            <a:ext cx="358444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3584448" cy="6400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569464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MODE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91839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E293B"/>
                </a:solidFill>
                <a:latin typeface="Georgia"/>
              </a:rPr>
              <a:t>SDK / Callback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7947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0EA5A4"/>
                </a:solidFill>
                <a:latin typeface="Calibri"/>
              </a:rPr>
              <a:t>Highest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206240"/>
            <a:ext cx="29992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Custom agents embed our SDK and run on their own infra. Every model, tool &amp; secret call flows through the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23160"/>
            <a:ext cx="358444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423160"/>
            <a:ext cx="3584448" cy="640080"/>
          </a:xfrm>
          <a:prstGeom prst="rect">
            <a:avLst/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1456" y="2569464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MODE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3291839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E293B"/>
                </a:solidFill>
                <a:latin typeface="Georgia"/>
              </a:rPr>
              <a:t>Proxy /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7947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B3060"/>
                </a:solidFill>
                <a:latin typeface="Calibri"/>
              </a:rPr>
              <a:t>Unified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4206240"/>
            <a:ext cx="29992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We route runs through the agent’s endpoint — the path for external platforms: Foundry, Bedrock, Copilot, vendor.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423160"/>
            <a:ext cx="358444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423160"/>
            <a:ext cx="3584448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1936" y="2569464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MODE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3291839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E293B"/>
                </a:solidFill>
                <a:latin typeface="Georgia"/>
              </a:rPr>
              <a:t>Attestation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379476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64748B"/>
                </a:solidFill>
                <a:latin typeface="Calibri"/>
              </a:rPr>
              <a:t>Registry of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4206240"/>
            <a:ext cx="29992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For agents that can’t integrate: cataloged, risk-tiered, and periodically re-certified by their owners.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961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Governance fidelity decreases left → right, but coverage is total: nothing runs ungoverned.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E293B"/>
                </a:solidFill>
                <a:latin typeface="Georgia"/>
              </a:rPr>
              <a:t>What it unlocks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351129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350008"/>
            <a:ext cx="457200" cy="45720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2368296"/>
            <a:ext cx="2505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Single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71800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Every agent, owner &amp; risk in one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29000"/>
            <a:ext cx="2962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20">
                <a:solidFill>
                  <a:srgbClr val="0B7C7B"/>
                </a:solidFill>
                <a:latin typeface="Calibri"/>
              </a:rPr>
              <a:t>CLOSES BLIND SPOTS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057400"/>
            <a:ext cx="351129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0872" y="2350008"/>
            <a:ext cx="457200" cy="45720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368296"/>
            <a:ext cx="2505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Real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971800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Approvals enforced and recorded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429000"/>
            <a:ext cx="2962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20">
                <a:solidFill>
                  <a:srgbClr val="0B7C7B"/>
                </a:solidFill>
                <a:latin typeface="Calibri"/>
              </a:rPr>
              <a:t>STOPS BYPASSED SIGN-OFF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7" y="2057400"/>
            <a:ext cx="351129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9055" y="2350008"/>
            <a:ext cx="457200" cy="45720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5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368296"/>
            <a:ext cx="2505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Cost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5" y="2971800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Accurate spend by agent, model &amp; BU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5" y="3429000"/>
            <a:ext cx="2962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20">
                <a:solidFill>
                  <a:srgbClr val="0B7C7B"/>
                </a:solidFill>
                <a:latin typeface="Calibri"/>
              </a:rPr>
              <a:t>ENDS UNTRACKED SPEND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96512"/>
            <a:ext cx="351129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4389120"/>
            <a:ext cx="457200" cy="45720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70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904" y="4407408"/>
            <a:ext cx="2505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Unified 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01091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Usage, latency, quality at a glance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468112"/>
            <a:ext cx="2962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20">
                <a:solidFill>
                  <a:srgbClr val="0B7C7B"/>
                </a:solidFill>
                <a:latin typeface="Calibri"/>
              </a:rPr>
              <a:t>REPLACES GUESSWORK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4096512"/>
            <a:ext cx="351129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90872" y="4389120"/>
            <a:ext cx="457200" cy="45720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4370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4407408"/>
            <a:ext cx="2505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libri"/>
              </a:rPr>
              <a:t>Faster, safer launches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501091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A paved path from build to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5468112"/>
            <a:ext cx="2962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20">
                <a:solidFill>
                  <a:srgbClr val="0B7C7B"/>
                </a:solidFill>
                <a:latin typeface="Calibri"/>
              </a:rPr>
              <a:t>SPEED WITH 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7" y="4096512"/>
            <a:ext cx="3511296" cy="178308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>
            <a:outerShdw blurRad="152400" dist="38100" dir="5400000" rotWithShape="0">
              <a:srgbClr val="0B122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3" y="4370832"/>
            <a:ext cx="29626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5EE7DF"/>
                </a:solidFill>
                <a:latin typeface="Calibri"/>
              </a:rPr>
              <a:t>Trust at scale.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C7D2E6"/>
                </a:solidFill>
                <a:latin typeface="Calibri"/>
              </a:rPr>
              <a:t>Adopt agents faster because they’re governed by default.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NOT STARTING FROM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93B"/>
                </a:solidFill>
                <a:latin typeface="Georgia"/>
              </a:rPr>
              <a:t>A working foundation is already in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468880"/>
            <a:ext cx="548640" cy="54864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4505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322576"/>
            <a:ext cx="4069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Calibri"/>
              </a:rPr>
              <a:t>Live agent running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798064"/>
            <a:ext cx="40690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A production-style Deployment Advisor with real tool calls and streaming.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56248" y="2468880"/>
            <a:ext cx="548640" cy="54864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24505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2322576"/>
            <a:ext cx="4069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Calibri"/>
              </a:rPr>
              <a:t>Monitoring dashboard designed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2798064"/>
            <a:ext cx="40690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Usage, execution health, cost and quality views specified and ready to 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4343400"/>
            <a:ext cx="548640" cy="54864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2511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197096"/>
            <a:ext cx="4069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Calibri"/>
              </a:rPr>
              <a:t>Full platform review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672584"/>
            <a:ext cx="40690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An independent analysis of the current system, risks and gaps.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6248" y="4343400"/>
            <a:ext cx="548640" cy="54864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432511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4197096"/>
            <a:ext cx="4069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Calibri"/>
              </a:rPr>
              <a:t>Architecture &amp; plan defined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4672584"/>
            <a:ext cx="40690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30" b="0" i="0">
                <a:solidFill>
                  <a:srgbClr val="64748B"/>
                </a:solidFill>
                <a:latin typeface="Calibri"/>
              </a:rPr>
              <a:t>A phased, control-plane-first roadmap ready to hand to engineering.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The vision is de-risked — this is a structured next step, not a blank-page bet.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E293B"/>
                </a:solidFill>
                <a:latin typeface="Georgia"/>
              </a:rPr>
              <a:t>Phased delivery — value early, risk down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59" y="2660904"/>
            <a:ext cx="10607040" cy="3657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00860" y="2423160"/>
            <a:ext cx="512064" cy="512064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0860" y="242316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2033625" cy="2286000"/>
          </a:xfrm>
          <a:prstGeom prst="roundRect">
            <a:avLst>
              <a:gd name="adj" fmla="val 7000"/>
            </a:avLst>
          </a:prstGeom>
          <a:solidFill>
            <a:srgbClr val="0E1B33"/>
          </a:solidFill>
          <a:ln>
            <a:noFill/>
          </a:ln>
          <a:effectLst>
            <a:outerShdw blurRad="127000" dist="38100" dir="5400000" rotWithShape="0">
              <a:srgbClr val="0B1220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2033625" cy="914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392424"/>
            <a:ext cx="170444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1" i="0">
                <a:solidFill>
                  <a:srgbClr val="FFFFFF"/>
                </a:solidFill>
                <a:latin typeface="Calibri"/>
              </a:rPr>
              <a:t>Registry &amp;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178808"/>
            <a:ext cx="1704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 i="0">
                <a:solidFill>
                  <a:srgbClr val="C7D2E6"/>
                </a:solidFill>
                <a:latin typeface="Calibri"/>
              </a:rPr>
              <a:t>Inventory, roles, real approvals,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038344"/>
            <a:ext cx="17044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60">
                <a:solidFill>
                  <a:srgbClr val="5EE7DF"/>
                </a:solidFill>
                <a:latin typeface="Calibri"/>
              </a:rPr>
              <a:t>CLOSES THE WORST RISKS</a:t>
            </a:r>
          </a:p>
        </p:txBody>
      </p:sp>
      <p:sp>
        <p:nvSpPr>
          <p:cNvPr id="12" name="Oval 11"/>
          <p:cNvSpPr/>
          <p:nvPr/>
        </p:nvSpPr>
        <p:spPr>
          <a:xfrm>
            <a:off x="3635654" y="2423160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5654" y="242316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4873" y="3154680"/>
            <a:ext cx="2033625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7753" y="3392424"/>
            <a:ext cx="170444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1" i="0">
                <a:solidFill>
                  <a:srgbClr val="1E293B"/>
                </a:solidFill>
                <a:latin typeface="Calibri"/>
              </a:rPr>
              <a:t>Gateways &amp;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7753" y="4178808"/>
            <a:ext cx="1704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 i="0">
                <a:solidFill>
                  <a:srgbClr val="64748B"/>
                </a:solidFill>
                <a:latin typeface="Calibri"/>
              </a:rPr>
              <a:t>Broker model, tool &amp; secret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7753" y="5038344"/>
            <a:ext cx="17044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60">
                <a:solidFill>
                  <a:srgbClr val="0B7C7B"/>
                </a:solidFill>
                <a:latin typeface="Calibri"/>
              </a:rPr>
              <a:t>GOVERNED ACCESS EVERYWHERE</a:t>
            </a:r>
          </a:p>
        </p:txBody>
      </p:sp>
      <p:sp>
        <p:nvSpPr>
          <p:cNvPr id="18" name="Oval 17"/>
          <p:cNvSpPr/>
          <p:nvPr/>
        </p:nvSpPr>
        <p:spPr>
          <a:xfrm>
            <a:off x="5870448" y="2423160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242316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9667" y="3154680"/>
            <a:ext cx="2033625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2547" y="3392424"/>
            <a:ext cx="170444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1" i="0">
                <a:solidFill>
                  <a:srgbClr val="1E293B"/>
                </a:solidFill>
                <a:latin typeface="Calibri"/>
              </a:rPr>
              <a:t>Proxy, External &amp; Evals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2547" y="4178808"/>
            <a:ext cx="1704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 i="0">
                <a:solidFill>
                  <a:srgbClr val="64748B"/>
                </a:solidFill>
                <a:latin typeface="Calibri"/>
              </a:rPr>
              <a:t>Onboard Foundry/Bedrock; quality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2547" y="5038344"/>
            <a:ext cx="17044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60">
                <a:solidFill>
                  <a:srgbClr val="0B7C7B"/>
                </a:solidFill>
                <a:latin typeface="Calibri"/>
              </a:rPr>
              <a:t>UNIFIED COVERAGE</a:t>
            </a:r>
          </a:p>
        </p:txBody>
      </p:sp>
      <p:sp>
        <p:nvSpPr>
          <p:cNvPr id="24" name="Oval 23"/>
          <p:cNvSpPr/>
          <p:nvPr/>
        </p:nvSpPr>
        <p:spPr>
          <a:xfrm>
            <a:off x="8105241" y="2423160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5241" y="242316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44460" y="3154680"/>
            <a:ext cx="2033625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7340" y="3392424"/>
            <a:ext cx="170444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1" i="0">
                <a:solidFill>
                  <a:srgbClr val="1E293B"/>
                </a:solidFill>
                <a:latin typeface="Calibri"/>
              </a:rPr>
              <a:t>Observability &amp;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7340" y="4178808"/>
            <a:ext cx="1704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 i="0">
                <a:solidFill>
                  <a:srgbClr val="64748B"/>
                </a:solidFill>
                <a:latin typeface="Calibri"/>
              </a:rPr>
              <a:t>Usage, health, cost,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7340" y="5038344"/>
            <a:ext cx="17044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60">
                <a:solidFill>
                  <a:srgbClr val="0B7C7B"/>
                </a:solidFill>
                <a:latin typeface="Calibri"/>
              </a:rPr>
              <a:t>SEE EVERYTHING</a:t>
            </a:r>
          </a:p>
        </p:txBody>
      </p:sp>
      <p:sp>
        <p:nvSpPr>
          <p:cNvPr id="30" name="Oval 29"/>
          <p:cNvSpPr/>
          <p:nvPr/>
        </p:nvSpPr>
        <p:spPr>
          <a:xfrm>
            <a:off x="10340035" y="2423160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40035" y="242316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79254" y="3154680"/>
            <a:ext cx="2033625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0B1220">
                <a:alpha val="8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2134" y="3392424"/>
            <a:ext cx="170444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1" i="0">
                <a:solidFill>
                  <a:srgbClr val="1E293B"/>
                </a:solidFill>
                <a:latin typeface="Calibri"/>
              </a:rPr>
              <a:t>Scale / optional hosting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2134" y="4178808"/>
            <a:ext cx="170444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 i="0">
                <a:solidFill>
                  <a:srgbClr val="64748B"/>
                </a:solidFill>
                <a:latin typeface="Calibri"/>
              </a:rPr>
              <a:t>Split services; host agents only if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2134" y="5038344"/>
            <a:ext cx="170444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60">
                <a:solidFill>
                  <a:srgbClr val="0B7C7B"/>
                </a:solidFill>
                <a:latin typeface="Calibri"/>
              </a:rPr>
              <a:t>GROW ON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052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Phase A delivers governed value on its own. Later phases compound it. Sequence: A → B → (C &amp; D) → 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SCOPE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93B"/>
                </a:solidFill>
                <a:latin typeface="Georgia"/>
              </a:rPr>
              <a:t>What we’re deliberately not doing 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" y="25328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5146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31927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</a:rPr>
              <a:t>Not building a runtime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023360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We won’t host agent containers yet. It’s deferred — and reversible if the need is proven.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4884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91456" y="25328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25146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331927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</a:rPr>
              <a:t>Not competing with our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4023360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We complement Foundry, Bedrock and existing compute — we don’t replace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148840"/>
            <a:ext cx="358444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31936" y="2532888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1936" y="25146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31927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E293B"/>
                </a:solidFill>
                <a:latin typeface="Georgia"/>
              </a:rPr>
              <a:t>Not a science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023360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Every phase ships governed, usable value. No big-bang, all-or-nothing build.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97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Discipline now keeps options open later — the design lets a hosted tier slot in without rework.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48640"/>
            <a:ext cx="1371600" cy="2263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5EE7D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Endorse control-plane-first.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EE7DF"/>
                </a:solidFill>
                <a:latin typeface="Georgia"/>
              </a:rPr>
              <a:t>Green-light Phase 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3456432" cy="1691640"/>
          </a:xfrm>
          <a:prstGeom prst="roundRect">
            <a:avLst>
              <a:gd name="adj" fmla="val 7000"/>
            </a:avLst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114800"/>
            <a:ext cx="91440" cy="16916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52544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EE7D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18304"/>
            <a:ext cx="29535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Endorse the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20640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C2CEE4"/>
                </a:solidFill>
                <a:latin typeface="Calibri"/>
              </a:rPr>
              <a:t>Agree control-plane-first is the strategy.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4114800"/>
            <a:ext cx="3456432" cy="1691640"/>
          </a:xfrm>
          <a:prstGeom prst="roundRect">
            <a:avLst>
              <a:gd name="adj" fmla="val 7000"/>
            </a:avLst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4114800"/>
            <a:ext cx="91440" cy="16916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4352544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EE7D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4718304"/>
            <a:ext cx="29535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Approve Phase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5120640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C2CEE4"/>
                </a:solidFill>
                <a:latin typeface="Calibri"/>
              </a:rPr>
              <a:t>Registry, governance &amp; real approvals.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1" y="4114800"/>
            <a:ext cx="3456432" cy="1691640"/>
          </a:xfrm>
          <a:prstGeom prst="roundRect">
            <a:avLst>
              <a:gd name="adj" fmla="val 7000"/>
            </a:avLst>
          </a:prstGeom>
          <a:solidFill>
            <a:srgbClr val="1B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1" y="4114800"/>
            <a:ext cx="91440" cy="16916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4352544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EE7DF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4718304"/>
            <a:ext cx="29535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Confirm sponsorship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5120640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C2CEE4"/>
                </a:solidFill>
                <a:latin typeface="Calibri"/>
              </a:rPr>
              <a:t>Name owners and back the first phase.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A0C6"/>
                </a:solidFill>
                <a:latin typeface="Calibri"/>
              </a:rPr>
              <a:t>REPH Agentic Platform  ·  Strategic Direction  ·  Presented by Mac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APPENDIX · HOW THE PLATFORM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93B"/>
                </a:solidFill>
                <a:latin typeface="Georgia"/>
              </a:rPr>
              <a:t>Deployment vs Monitoring — the gate and the gauge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330952" cy="2743200"/>
          </a:xfrm>
          <a:prstGeom prst="roundRect">
            <a:avLst>
              <a:gd name="adj" fmla="val 4500"/>
            </a:avLst>
          </a:prstGeom>
          <a:solidFill>
            <a:srgbClr val="0E1B33"/>
          </a:solidFill>
          <a:ln>
            <a:noFill/>
          </a:ln>
          <a:effectLst>
            <a:outerShdw blurRad="177800" dist="50800" dir="5400000" rotWithShape="0">
              <a:srgbClr val="0B122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330952" cy="5486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148840"/>
            <a:ext cx="4782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80">
                <a:solidFill>
                  <a:srgbClr val="0E1B33"/>
                </a:solidFill>
                <a:latin typeface="Calibri"/>
              </a:rPr>
              <a:t>CONTROL · WRITE PATH</a:t>
            </a:r>
          </a:p>
        </p:txBody>
      </p:sp>
      <p:sp>
        <p:nvSpPr>
          <p:cNvPr id="7" name="Oval 6"/>
          <p:cNvSpPr/>
          <p:nvPr/>
        </p:nvSpPr>
        <p:spPr>
          <a:xfrm>
            <a:off x="960119" y="2788920"/>
            <a:ext cx="548640" cy="54864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77063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E1B3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798064"/>
            <a:ext cx="4142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Georgia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493008"/>
            <a:ext cx="46908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governed lifecycle — register, version, evaluate, approve, promote, roll back.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B9C5DC"/>
                </a:solidFill>
                <a:latin typeface="Calibri"/>
              </a:rPr>
              <a:t>Changes what is allowed to run, and at what status. It sets the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011680"/>
            <a:ext cx="5330952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2011680"/>
            <a:ext cx="5330952" cy="54864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148840"/>
            <a:ext cx="4782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80">
                <a:solidFill>
                  <a:srgbClr val="FFFFFF"/>
                </a:solidFill>
                <a:latin typeface="Calibri"/>
              </a:rPr>
              <a:t>OBSERVE · READ PATH</a:t>
            </a:r>
          </a:p>
        </p:txBody>
      </p:sp>
      <p:sp>
        <p:nvSpPr>
          <p:cNvPr id="14" name="Oval 13"/>
          <p:cNvSpPr/>
          <p:nvPr/>
        </p:nvSpPr>
        <p:spPr>
          <a:xfrm>
            <a:off x="6565392" y="2788920"/>
            <a:ext cx="548640" cy="548640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77063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EE7DF"/>
                </a:solidFill>
                <a:latin typeface="Calibri"/>
              </a:rPr>
              <a:t>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98064"/>
            <a:ext cx="4142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293B"/>
                </a:solidFill>
                <a:latin typeface="Georgia"/>
              </a:rPr>
              <a:t>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493008"/>
            <a:ext cx="46908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Continuous runtime telemetry — usage, execution health, cost, and quality.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Reflects what is actually happening. It never changes state — it reads the gauges.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10936224" cy="1051560"/>
          </a:xfrm>
          <a:prstGeom prst="roundRect">
            <a:avLst>
              <a:gd name="adj" fmla="val 7000"/>
            </a:avLst>
          </a:prstGeom>
          <a:solidFill>
            <a:srgbClr val="0E1B33"/>
          </a:solidFill>
          <a:ln>
            <a:noFill/>
          </a:ln>
          <a:effectLst>
            <a:outerShdw blurRad="152400" dist="38100" dir="5400000" rotWithShape="0">
              <a:srgbClr val="0B122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109728" cy="105156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93792"/>
            <a:ext cx="104241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5EE7DF"/>
                </a:solidFill>
                <a:latin typeface="Calibri"/>
              </a:rPr>
              <a:t>Monitoring feeds Deployment. </a:t>
            </a:r>
            <a:r>
              <a:rPr sz="1300" b="0" i="0">
                <a:solidFill>
                  <a:srgbClr val="D7E1F2"/>
                </a:solidFill>
                <a:latin typeface="Calibri"/>
              </a:rPr>
              <a:t>Error spikes, poor feedback, or cost overruns trigger a rollback or re-review — and because the platform isn’t the runtime, “deploy” means governance &amp; entitlement, not provisioning.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0EA5A4"/>
                </a:solidFill>
                <a:latin typeface="Calibri"/>
              </a:rPr>
              <a:t>APPENDIX · REGISTRATION &amp;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93B"/>
                </a:solidFill>
                <a:latin typeface="Georgia"/>
              </a:rPr>
              <a:t>Two paths to register — one set of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3095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30952" cy="5486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057400"/>
            <a:ext cx="4782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60">
                <a:solidFill>
                  <a:srgbClr val="0E1B33"/>
                </a:solidFill>
                <a:latin typeface="Calibri"/>
              </a:rPr>
              <a:t>FOR AGENT-OWNING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33472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93B"/>
                </a:solidFill>
                <a:latin typeface="Georgia"/>
              </a:rPr>
              <a:t>Product UI +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145536"/>
            <a:ext cx="46908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0" i="0">
                <a:solidFill>
                  <a:srgbClr val="64748B"/>
                </a:solidFill>
                <a:latin typeface="Calibri"/>
              </a:rPr>
              <a:t>Self-serve registration from a manifest, scoped to your own org. Every step runs through eval, approval and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813048"/>
            <a:ext cx="4690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0B7C7B"/>
                </a:solidFill>
                <a:latin typeface="Calibri"/>
              </a:rPr>
              <a:t>THE GOVERNED FRONT DOOR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920240"/>
            <a:ext cx="5330952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39700" dist="38100" dir="5400000" rotWithShape="0">
              <a:srgbClr val="0B122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920240"/>
            <a:ext cx="5330952" cy="54864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057400"/>
            <a:ext cx="4782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FFFFFF"/>
                </a:solidFill>
                <a:latin typeface="Calibri"/>
              </a:rPr>
              <a:t>FOR THE PLATFORM / TECH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633472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293B"/>
                </a:solidFill>
                <a:latin typeface="Georgia"/>
              </a:rPr>
              <a:t>Django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145536"/>
            <a:ext cx="46908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0" i="0">
                <a:solidFill>
                  <a:srgbClr val="64748B"/>
                </a:solidFill>
                <a:latin typeface="Calibri"/>
              </a:rPr>
              <a:t>Back-office for inspection, support and break-glass. Governance-sensitive fields are locked or service-routed; every change is audited.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813048"/>
            <a:ext cx="4690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0B7C7B"/>
                </a:solidFill>
                <a:latin typeface="Calibri"/>
              </a:rPr>
              <a:t>KEPT — SCOPED &amp; LOCKED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05556" y="4251960"/>
            <a:ext cx="0" cy="457200"/>
          </a:xfrm>
          <a:prstGeom prst="line">
            <a:avLst/>
          </a:prstGeom>
          <a:ln w="27940">
            <a:solidFill>
              <a:srgbClr val="0EA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10828" y="4251960"/>
            <a:ext cx="0" cy="457200"/>
          </a:xfrm>
          <a:prstGeom prst="line">
            <a:avLst/>
          </a:prstGeom>
          <a:ln w="27940">
            <a:solidFill>
              <a:srgbClr val="0EA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4709160"/>
            <a:ext cx="10936224" cy="1097280"/>
          </a:xfrm>
          <a:prstGeom prst="roundRect">
            <a:avLst>
              <a:gd name="adj" fmla="val 7000"/>
            </a:avLst>
          </a:prstGeom>
          <a:solidFill>
            <a:srgbClr val="0E1B33"/>
          </a:solidFill>
          <a:ln>
            <a:noFill/>
          </a:ln>
          <a:effectLst>
            <a:outerShdw blurRad="152400" dist="38100" dir="5400000" rotWithShape="0">
              <a:srgbClr val="0B122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10328"/>
            <a:ext cx="10936224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 spc="200">
                <a:solidFill>
                  <a:srgbClr val="5EE7DF"/>
                </a:solidFill>
                <a:latin typeface="Calibri"/>
              </a:rPr>
              <a:t>ONE GOVERNANCE SERVICE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D7E1F2"/>
                </a:solidFill>
                <a:latin typeface="Calibri"/>
              </a:rPr>
              <a:t>Both paths call the same gates — neither writes production state directly.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3060"/>
                </a:solidFill>
                <a:latin typeface="Calibri"/>
              </a:rPr>
              <a:t>REPH Agentic Platform · Strategic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